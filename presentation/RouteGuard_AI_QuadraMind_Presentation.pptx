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0C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70C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731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F7E49"/>
                </a:solidFill>
                <a:latin typeface="Aptos"/>
              </a:rPr>
              <a:t>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6583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>
                <a:solidFill>
                  <a:srgbClr val="F4F7FC"/>
                </a:solidFill>
                <a:latin typeface="Aptos"/>
              </a:rPr>
              <a:t>RouteGuard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67712"/>
            <a:ext cx="6400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43D3FF"/>
                </a:solidFill>
                <a:latin typeface="Aptos"/>
              </a:rPr>
              <a:t>Supply Chain Disruption &amp;
Fleet Utilisation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6126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AAB8CD"/>
                </a:solidFill>
                <a:latin typeface="Aptos"/>
              </a:rPr>
              <a:t>An end-to-end decision-support prototype for disruption-aware logistics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920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4F7FC"/>
                </a:solidFill>
                <a:latin typeface="Aptos"/>
              </a:rPr>
              <a:t>Team QuadraMind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85232"/>
            <a:ext cx="6309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AI Track  |  Python + Streamlit + IBM watsonx.ai + IBM Bob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051560"/>
            <a:ext cx="2971800" cy="841248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366760" y="1051560"/>
            <a:ext cx="64008" cy="841248"/>
          </a:xfrm>
          <a:prstGeom prst="rect">
            <a:avLst/>
          </a:prstGeom>
          <a:solidFill>
            <a:srgbClr val="F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216151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1673352"/>
            <a:ext cx="25603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Operational decision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2331720"/>
            <a:ext cx="2971800" cy="841248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2331720"/>
            <a:ext cx="64008" cy="841248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2496312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ROUTES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953512"/>
            <a:ext cx="25603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Operational decision layer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3611880"/>
            <a:ext cx="2971800" cy="841248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66760" y="3611880"/>
            <a:ext cx="64008" cy="841248"/>
          </a:xfrm>
          <a:prstGeom prst="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3776472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FLEET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233672"/>
            <a:ext cx="25603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Operational decision layer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4892040"/>
            <a:ext cx="2971800" cy="841248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4892040"/>
            <a:ext cx="64008" cy="841248"/>
          </a:xfrm>
          <a:prstGeom prst="rect">
            <a:avLst/>
          </a:prstGeom>
          <a:solidFill>
            <a:srgbClr val="F7C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5056631"/>
            <a:ext cx="25603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COLD CHAIN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5513831"/>
            <a:ext cx="2560320" cy="91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Operational decision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989320"/>
            <a:ext cx="2971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AAB8CD"/>
                </a:solidFill>
                <a:latin typeface="Aptos"/>
              </a:rPr>
              <a:t>PROOF OF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Why disruption management needs a unified decision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3520440" cy="1874519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64008" cy="1874519"/>
          </a:xfrm>
          <a:prstGeom prst="rect">
            <a:avLst/>
          </a:prstGeom>
          <a:solidFill>
            <a:srgbClr val="F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5B5B"/>
                </a:solidFill>
                <a:latin typeface="Aptos"/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764792"/>
            <a:ext cx="26334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Disruptions cascade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21992"/>
            <a:ext cx="3108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Weather events, port strikes and geopolitical delays can affect multiple shipments and routes at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00200"/>
            <a:ext cx="3520440" cy="1874519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00200"/>
            <a:ext cx="64008" cy="1874519"/>
          </a:xfrm>
          <a:prstGeom prst="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76479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7E49"/>
                </a:solidFill>
                <a:latin typeface="Aptos"/>
              </a:rPr>
              <a:t>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764792"/>
            <a:ext cx="26334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Fleet imbalance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21992"/>
            <a:ext cx="3108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Some assets may remain underutilised while alternative routes and regions become overloaded.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00200"/>
            <a:ext cx="3520440" cy="1874519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600200"/>
            <a:ext cx="64008" cy="1874519"/>
          </a:xfrm>
          <a:prstGeom prst="rect">
            <a:avLst/>
          </a:prstGeom>
          <a:solidFill>
            <a:srgbClr val="F7C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20" y="176479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7C74A"/>
                </a:solidFill>
                <a:latin typeface="Aptos"/>
              </a:rPr>
              <a:t>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0808" y="1764792"/>
            <a:ext cx="26334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Cold-chain exposure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221992"/>
            <a:ext cx="3108960" cy="1124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Temperature excursions can turn a logistics delay into product-loss and delivery risk.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977639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C"/>
                </a:solidFill>
                <a:latin typeface="Aptos"/>
              </a:rPr>
              <a:t>Operational teams need answers to four questions: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34840"/>
            <a:ext cx="10241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• Which shipments need attention first?</a:t>
            </a:r>
          </a:p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• What safer route or alternative should be considered?</a:t>
            </a:r>
          </a:p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• Which idle assets can be redeployed?</a:t>
            </a:r>
          </a:p>
          <a:p>
            <a:pPr>
              <a:spcAft>
                <a:spcPts val="700"/>
              </a:spcAft>
              <a:defRPr sz="1700">
                <a:solidFill>
                  <a:srgbClr val="F4F7FC"/>
                </a:solidFill>
                <a:latin typeface="Aptos"/>
              </a:defRPr>
            </a:pPr>
            <a:r>
              <a:t>• Are any temperature-sensitive shipments already at risk?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Our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RouteGuard AI brings the operational picture into one interactive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4F7FC"/>
                </a:solidFill>
                <a:latin typeface="Aptos"/>
              </a:rPr>
              <a:t>Five connected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5B5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3911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4F7FC"/>
                </a:solidFill>
                <a:latin typeface="Aptos"/>
              </a:rPr>
              <a:t>Shipment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03911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Prioritises active shipments using disruption and operational risk signals.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3D3FF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81635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4F7FC"/>
                </a:solidFill>
                <a:latin typeface="Aptos"/>
              </a:rPr>
              <a:t>Route optimizer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81635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Ranks alternative routes with disruption-aware scoring.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118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51DA97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59359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4F7FC"/>
                </a:solidFill>
                <a:latin typeface="Aptos"/>
              </a:rPr>
              <a:t>Fleet optimizer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59359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Finds underutilised assets and suggests redeployment opportunities.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38912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C74A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7083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4F7FC"/>
                </a:solidFill>
                <a:latin typeface="Aptos"/>
              </a:rPr>
              <a:t>Cold-chain monitor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37083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Detects temperature excursions and classifies severity.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6636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7E49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14807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F4F7FC"/>
                </a:solidFill>
                <a:latin typeface="Aptos"/>
              </a:rPr>
              <a:t>AI Copilot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148072"/>
            <a:ext cx="7132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Uses IBM watsonx.ai for natural-language operational explanations.</a:t>
            </a:r>
          </a:p>
        </p:txBody>
      </p:sp>
      <p:pic>
        <p:nvPicPr>
          <p:cNvPr id="22" name="Picture 21" descr="b51fbe87-aa2e-4bc1-9163-2fcd48e16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4754880"/>
            <a:ext cx="3566160" cy="189452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High-level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Modular Python services behind a Streamlit 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291840" cy="685800"/>
          </a:xfrm>
          <a:prstGeom prst="roundRect">
            <a:avLst/>
          </a:prstGeom>
          <a:solidFill>
            <a:srgbClr val="121C2F"/>
          </a:solidFill>
          <a:ln>
            <a:solidFill>
              <a:srgbClr val="43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536192"/>
            <a:ext cx="31455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3D3FF"/>
                </a:solidFill>
                <a:latin typeface="Aptos"/>
              </a:rPr>
              <a:t>Streamlit UI
src/app.py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242316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AAB8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862072"/>
            <a:ext cx="227685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AAB8CD"/>
                </a:solidFill>
                <a:latin typeface="Aptos"/>
              </a:rPr>
              <a:t>Data Loader
CSV datasets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743200"/>
            <a:ext cx="242316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F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2862072"/>
            <a:ext cx="227685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5B5B"/>
                </a:solidFill>
                <a:latin typeface="Aptos"/>
              </a:rPr>
              <a:t>Risk Engine
risk_engine.py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2743200"/>
            <a:ext cx="242316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43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16752" y="2862072"/>
            <a:ext cx="227685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43D3FF"/>
                </a:solidFill>
                <a:latin typeface="Aptos"/>
              </a:rPr>
              <a:t>Route Optimizer
route_optimizer.py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743200"/>
            <a:ext cx="242316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51D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22792" y="2862072"/>
            <a:ext cx="227685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51DA97"/>
                </a:solidFill>
                <a:latin typeface="Aptos"/>
              </a:rPr>
              <a:t>Fleet Optimizer
fleet_optimizer.py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4251960"/>
            <a:ext cx="242316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F7C7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0712" y="4370832"/>
            <a:ext cx="227685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7C74A"/>
                </a:solidFill>
                <a:latin typeface="Aptos"/>
              </a:rPr>
              <a:t>Cold Chain
cold_chain.py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4251960"/>
            <a:ext cx="242316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FF7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4370832"/>
            <a:ext cx="2276856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7E49"/>
                </a:solidFill>
                <a:latin typeface="Aptos"/>
              </a:rPr>
              <a:t>AI Copilot
ai_copilot.py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5532120"/>
            <a:ext cx="2423160" cy="594360"/>
          </a:xfrm>
          <a:prstGeom prst="roundRect">
            <a:avLst/>
          </a:prstGeom>
          <a:solidFill>
            <a:srgbClr val="121C2F"/>
          </a:solidFill>
          <a:ln>
            <a:solidFill>
              <a:srgbClr val="FF7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16752" y="5650992"/>
            <a:ext cx="227685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7E49"/>
                </a:solidFill>
                <a:latin typeface="Aptos"/>
              </a:rPr>
              <a:t>IBM watsonx.ai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4572000" y="2103120"/>
            <a:ext cx="1508760" cy="640080"/>
          </a:xfrm>
          <a:prstGeom prst="line">
            <a:avLst/>
          </a:prstGeom>
          <a:ln w="19050">
            <a:solidFill>
              <a:srgbClr val="55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080760" y="2103120"/>
            <a:ext cx="1051560" cy="640080"/>
          </a:xfrm>
          <a:prstGeom prst="line">
            <a:avLst/>
          </a:prstGeom>
          <a:ln w="19050">
            <a:solidFill>
              <a:srgbClr val="55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80760" y="2103120"/>
            <a:ext cx="3657600" cy="640080"/>
          </a:xfrm>
          <a:prstGeom prst="line">
            <a:avLst/>
          </a:prstGeom>
          <a:ln w="19050">
            <a:solidFill>
              <a:srgbClr val="55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20240" y="3474720"/>
            <a:ext cx="2651760" cy="777240"/>
          </a:xfrm>
          <a:prstGeom prst="line">
            <a:avLst/>
          </a:prstGeom>
          <a:ln w="19050">
            <a:solidFill>
              <a:srgbClr val="55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553712" y="3474720"/>
            <a:ext cx="0" cy="777240"/>
          </a:xfrm>
          <a:prstGeom prst="line">
            <a:avLst/>
          </a:prstGeom>
          <a:ln w="19050">
            <a:solidFill>
              <a:srgbClr val="55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159752" y="3474720"/>
            <a:ext cx="0" cy="777240"/>
          </a:xfrm>
          <a:prstGeom prst="line">
            <a:avLst/>
          </a:prstGeom>
          <a:ln w="19050">
            <a:solidFill>
              <a:srgbClr val="55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7159752" y="4983480"/>
            <a:ext cx="0" cy="548640"/>
          </a:xfrm>
          <a:prstGeom prst="line">
            <a:avLst/>
          </a:prstGeom>
          <a:ln w="19050">
            <a:solidFill>
              <a:srgbClr val="55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621792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D"/>
                </a:solidFill>
                <a:latin typeface="Aptos"/>
              </a:rPr>
              <a:t>Synthetic CSV data keeps the prototype reproducible and locally runnable.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Operational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From disruption signals to actionable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920240" cy="13258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3D3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7004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29000"/>
            <a:ext cx="1920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Shipments, fleet, routes, disruptions and cold-chain readings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60320" y="2578608"/>
            <a:ext cx="347471" cy="0"/>
          </a:xfrm>
          <a:prstGeom prst="line">
            <a:avLst/>
          </a:prstGeom>
          <a:ln w="2540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920240"/>
            <a:ext cx="1920240" cy="13258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3240" y="205740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5B5B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67004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429000"/>
            <a:ext cx="1920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Calculate shipment risk and identify disruption-affected operations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46320" y="2578608"/>
            <a:ext cx="347472" cy="0"/>
          </a:xfrm>
          <a:prstGeom prst="line">
            <a:avLst/>
          </a:prstGeom>
          <a:ln w="2540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12080" y="1920240"/>
            <a:ext cx="1920240" cy="13258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05740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3D3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67004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429000"/>
            <a:ext cx="1920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Compare route alternatives and underutilised fleet assets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132320" y="2578608"/>
            <a:ext cx="347472" cy="0"/>
          </a:xfrm>
          <a:prstGeom prst="line">
            <a:avLst/>
          </a:prstGeom>
          <a:ln w="2540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920240"/>
            <a:ext cx="1920240" cy="13258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205740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7C74A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67004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Monitor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3429000"/>
            <a:ext cx="1920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Detect temperature excursions and severity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418319" y="2578608"/>
            <a:ext cx="347473" cy="0"/>
          </a:xfrm>
          <a:prstGeom prst="line">
            <a:avLst/>
          </a:prstGeom>
          <a:ln w="25400">
            <a:solidFill>
              <a:srgbClr val="43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784080" y="1920240"/>
            <a:ext cx="1920240" cy="13258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21240" y="2057400"/>
            <a:ext cx="1645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7E49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2670048"/>
            <a:ext cx="1645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3429000"/>
            <a:ext cx="19202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Ask the AI Copilot for a prioritised operational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983480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4F7FC"/>
                </a:solidFill>
                <a:latin typeface="Aptos"/>
              </a:rPr>
              <a:t>Decision-support, not autonomous dispatch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532120"/>
            <a:ext cx="9875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AB8CD"/>
                </a:solidFill>
                <a:latin typeface="Aptos"/>
              </a:rPr>
              <a:t>Recommendations are intended for human validation before real-world operational action.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Shipment risk &amp; disruption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Prioritise the shipments most exposed to active disruptions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2331720" cy="13258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19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3D3FF"/>
                </a:solidFill>
                <a:latin typeface="Aptos"/>
              </a:rP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Active shipments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508760"/>
            <a:ext cx="2331720" cy="13258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1645919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5B5B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225856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High / Critical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06440" y="1508760"/>
            <a:ext cx="2331720" cy="13258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645919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7E49"/>
                </a:solidFill>
                <a:latin typeface="Aptos"/>
              </a:rP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5856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Affected by disruption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508760"/>
            <a:ext cx="2331720" cy="13258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645919"/>
            <a:ext cx="2057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7C74A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25856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Critical shipments in shown filter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5120640" cy="21488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64008" cy="2148840"/>
          </a:xfrm>
          <a:prstGeom prst="rect">
            <a:avLst/>
          </a:prstGeom>
          <a:solidFill>
            <a:srgbClr val="F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410712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Example priority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867911"/>
            <a:ext cx="4709159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The dashboard surfaces shipment IDs and risk levels so an operator can focus on the most urgent interventions first.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3246120"/>
            <a:ext cx="5120640" cy="21488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60" y="3246120"/>
            <a:ext cx="64008" cy="2148840"/>
          </a:xfrm>
          <a:prstGeom prst="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3410712"/>
            <a:ext cx="470915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Active disruption 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67911"/>
            <a:ext cx="4709159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Disruptions are represented with type, location, severity and affected route information, creating context for downstream decisions.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Demo dataset is synthetic and designed for repeatable evaluation.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Disruption-aware route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Prefer safer alternatives while balancing time and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200400" cy="19202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64008" cy="192024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73351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3D3FF"/>
                </a:solidFill>
                <a:latin typeface="Aptos"/>
              </a:rPr>
              <a:t>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73351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Example: Ahmedabad → Delhi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278892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RouteGuard compares candidate routes and incorporates disruption risk into the ranking.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69080" y="1508760"/>
            <a:ext cx="3200400" cy="19202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69080" y="1508760"/>
            <a:ext cx="64008" cy="1920240"/>
          </a:xfrm>
          <a:prstGeom prst="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673351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1DA97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1673351"/>
            <a:ext cx="2313431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Recommended: R-002-B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130552"/>
            <a:ext cx="278892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496 km • 7.3 h • ₹18,405 base cost • effective risk 0.052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508760"/>
            <a:ext cx="3200400" cy="19202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52360" y="1508760"/>
            <a:ext cx="64008" cy="1920240"/>
          </a:xfrm>
          <a:prstGeom prst="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673351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7E49"/>
                </a:solidFill>
                <a:latin typeface="Aptos"/>
              </a:rPr>
              <a:t>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1673351"/>
            <a:ext cx="23134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Alternative: R-002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130552"/>
            <a:ext cx="2788920" cy="11704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459 km • 8.0 h • ₹15,111 base cost • effective risk 0.3515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8862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4F7FC"/>
                </a:solidFill>
                <a:latin typeface="Aptos"/>
              </a:rPr>
              <a:t>Illustrative route scoring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262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R-002-B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4544568"/>
            <a:ext cx="7680960" cy="237744"/>
          </a:xfrm>
          <a:prstGeom prst="roundRect">
            <a:avLst/>
          </a:prstGeom>
          <a:solidFill>
            <a:srgbClr val="18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20240" y="4544568"/>
            <a:ext cx="6605625" cy="237744"/>
          </a:xfrm>
          <a:prstGeom prst="round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448970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51DA97"/>
                </a:solidFill>
                <a:latin typeface="Aptos"/>
              </a:rPr>
              <a:t>0.860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12080"/>
            <a:ext cx="1143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F7FC"/>
                </a:solidFill>
                <a:latin typeface="Aptos"/>
              </a:rPr>
              <a:t>R-002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20240" y="5230368"/>
            <a:ext cx="7680960" cy="237744"/>
          </a:xfrm>
          <a:prstGeom prst="roundRect">
            <a:avLst/>
          </a:prstGeom>
          <a:solidFill>
            <a:srgbClr val="182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20240" y="5230368"/>
            <a:ext cx="3686860" cy="237744"/>
          </a:xfrm>
          <a:prstGeom prst="round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5175504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FF7E49"/>
                </a:solidFill>
                <a:latin typeface="Aptos"/>
              </a:rPr>
              <a:t>0.480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852160"/>
            <a:ext cx="10424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The optimizer is a transparent heuristic prototype rather than a commercial routing engine.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Fleet utilisation optimizer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Turn idle capacity into redeployment opportunities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423160" cy="128016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51DA97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21488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Assets below 35% utilisation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463040"/>
            <a:ext cx="2468880" cy="128016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1463040"/>
            <a:ext cx="64008" cy="1280160"/>
          </a:xfrm>
          <a:prstGeom prst="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62763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VH-021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084832"/>
            <a:ext cx="2057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Vessel • Lucknow • 17%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63040"/>
            <a:ext cx="2468880" cy="128016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463040"/>
            <a:ext cx="64008" cy="128016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2763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VH-010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084832"/>
            <a:ext cx="2057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Vessel • Lucknow • 32%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463040"/>
            <a:ext cx="2468880" cy="128016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78240" y="1463040"/>
            <a:ext cx="64008" cy="1280160"/>
          </a:xfrm>
          <a:prstGeom prst="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627632"/>
            <a:ext cx="2057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VH-023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2084832"/>
            <a:ext cx="2057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Truck • Chennai • 32%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2461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C"/>
                </a:solidFill>
                <a:latin typeface="Aptos"/>
              </a:rPr>
              <a:t>Suggested redeployment matches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40480"/>
            <a:ext cx="6583680" cy="475488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31920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7FC"/>
                </a:solidFill>
                <a:latin typeface="Aptos"/>
              </a:rPr>
              <a:t>VH-021 → SH-1030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93192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F7C74A"/>
                </a:solidFill>
                <a:latin typeface="Aptos"/>
              </a:rPr>
              <a:t>Risk 67.7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480560"/>
            <a:ext cx="6583680" cy="475488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4572000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7FC"/>
                </a:solidFill>
                <a:latin typeface="Aptos"/>
              </a:rPr>
              <a:t>VH-010 → SH-1015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572000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F7C74A"/>
                </a:solidFill>
                <a:latin typeface="Aptos"/>
              </a:rPr>
              <a:t>Risk 66.5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120640"/>
            <a:ext cx="6583680" cy="475488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12079"/>
            <a:ext cx="4297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4F7FC"/>
                </a:solidFill>
                <a:latin typeface="Aptos"/>
              </a:rPr>
              <a:t>VH-023 → SH-1092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212079"/>
            <a:ext cx="1463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50" b="1">
                <a:solidFill>
                  <a:srgbClr val="F7C74A"/>
                </a:solidFill>
                <a:latin typeface="Aptos"/>
              </a:rPr>
              <a:t>Risk 64.9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3246120"/>
            <a:ext cx="3657600" cy="205740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35240" y="3246120"/>
            <a:ext cx="64008" cy="2057400"/>
          </a:xfrm>
          <a:prstGeom prst="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0" y="341071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1DA97"/>
                </a:solidFill>
                <a:latin typeface="Aptos"/>
              </a:rPr>
              <a:t>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3410712"/>
            <a:ext cx="277063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What this enables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3867911"/>
            <a:ext cx="3246120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Operators can see where utilisation is low and which shipments are candidates for redeployment—without requiring a full fleet management platform.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Cold-chain monitoring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Detect temperature excursions before delivery risk becomes invisible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2194560" cy="12344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7C74A"/>
                </a:solidFill>
                <a:latin typeface="Aptos"/>
              </a:rP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1284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Sensor readings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1463040"/>
            <a:ext cx="2194560" cy="12344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160020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7E49"/>
                </a:solidFill>
                <a:latin typeface="Aptos"/>
              </a:rPr>
              <a:t>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79" y="221284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Excursions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463040"/>
            <a:ext cx="2194560" cy="12344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160020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5B5B"/>
                </a:solidFill>
                <a:latin typeface="Aptos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21284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Major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463040"/>
            <a:ext cx="2194560" cy="12344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1600200"/>
            <a:ext cx="1920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F5B5B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212848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Critical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12680" y="1463040"/>
            <a:ext cx="1417320" cy="123444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49840" y="1600200"/>
            <a:ext cx="1143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43D3FF"/>
                </a:solidFill>
                <a:latin typeface="Aptos"/>
              </a:rPr>
              <a:t>2–8°C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9840" y="2212848"/>
            <a:ext cx="1143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Target range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120640" cy="205740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246120"/>
            <a:ext cx="64008" cy="2057400"/>
          </a:xfrm>
          <a:prstGeom prst="rect">
            <a:avLst/>
          </a:prstGeom>
          <a:solidFill>
            <a:srgbClr val="F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1071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5B5B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3410712"/>
            <a:ext cx="4233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Example: SH-1086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67911"/>
            <a:ext cx="4709159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Recorded temperature: 27.2°C • Deviation: 19.2°C • Classification: Critical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246120"/>
            <a:ext cx="5120640" cy="205740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80760" y="3246120"/>
            <a:ext cx="64008" cy="2057400"/>
          </a:xfrm>
          <a:prstGeom prst="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41071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7E49"/>
                </a:solidFill>
                <a:latin typeface="Aptos"/>
              </a:rPr>
              <a:t>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3410712"/>
            <a:ext cx="423367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Example: SH-1006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867911"/>
            <a:ext cx="4709159" cy="1307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Recorded temperature: 12°C • Deviation: 4°C • Classification: Major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Prototype severity classification should be validated against operational and regulatory thresholds before production use.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IBM watsonx.ai Copilot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Natural-language explanations grounded in the application's current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63040"/>
            <a:ext cx="3383280" cy="164592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63040"/>
            <a:ext cx="64008" cy="1645920"/>
          </a:xfrm>
          <a:prstGeom prst="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2763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7E49"/>
                </a:solidFill>
                <a:latin typeface="Aptos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627632"/>
            <a:ext cx="2496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Ask in plain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29718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Example: “Which shipments need immediate intervention and why?”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383280" cy="164592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64008" cy="16459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2763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43D3FF"/>
                </a:solidFill>
                <a:latin typeface="Aptos"/>
              </a:rPr>
              <a:t>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627632"/>
            <a:ext cx="2496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Grounded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84832"/>
            <a:ext cx="29718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The Copilot receives relevant operational results from RouteGuard before generating its explanation.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463040"/>
            <a:ext cx="3383280" cy="164592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463040"/>
            <a:ext cx="64008" cy="1645920"/>
          </a:xfrm>
          <a:prstGeom prst="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627632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51DA97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05088" y="1627632"/>
            <a:ext cx="2496312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Human-in-the-loop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84832"/>
            <a:ext cx="297180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The output is a decision-support aid—not an autonomous dispatch instruction.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7033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C"/>
                </a:solidFill>
                <a:latin typeface="Aptos"/>
              </a:rPr>
              <a:t>Copilot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343400"/>
            <a:ext cx="214884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43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4517136"/>
            <a:ext cx="20025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43D3FF"/>
                </a:solidFill>
                <a:latin typeface="Aptos"/>
              </a:rPr>
              <a:t>RouteGuard results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26080" y="4709160"/>
            <a:ext cx="502920" cy="0"/>
          </a:xfrm>
          <a:prstGeom prst="line">
            <a:avLst/>
          </a:prstGeom>
          <a:ln w="19050">
            <a:solidFill>
              <a:srgbClr val="AA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20440" y="4343400"/>
            <a:ext cx="214884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FF7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93592" y="4517136"/>
            <a:ext cx="20025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7E49"/>
                </a:solidFill>
                <a:latin typeface="Aptos"/>
              </a:rPr>
              <a:t>Prompt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0" y="4709160"/>
            <a:ext cx="502920" cy="0"/>
          </a:xfrm>
          <a:prstGeom prst="line">
            <a:avLst/>
          </a:prstGeom>
          <a:ln w="19050">
            <a:solidFill>
              <a:srgbClr val="AA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63640" y="4343400"/>
            <a:ext cx="214884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FF7E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4517136"/>
            <a:ext cx="20025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7E49"/>
                </a:solidFill>
                <a:latin typeface="Aptos"/>
              </a:rPr>
              <a:t>watsonx.ai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0" y="4709160"/>
            <a:ext cx="502920" cy="0"/>
          </a:xfrm>
          <a:prstGeom prst="line">
            <a:avLst/>
          </a:prstGeom>
          <a:ln w="19050">
            <a:solidFill>
              <a:srgbClr val="AA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006840" y="4343400"/>
            <a:ext cx="2148840" cy="731520"/>
          </a:xfrm>
          <a:prstGeom prst="roundRect">
            <a:avLst/>
          </a:prstGeom>
          <a:solidFill>
            <a:srgbClr val="121C2F"/>
          </a:solidFill>
          <a:ln>
            <a:solidFill>
              <a:srgbClr val="51DA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9992" y="4517136"/>
            <a:ext cx="2002536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51DA97"/>
                </a:solidFill>
                <a:latin typeface="Aptos"/>
              </a:rPr>
              <a:t>Operational explanation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AB8CD"/>
                </a:solidFill>
                <a:latin typeface="Aptos"/>
              </a:rPr>
              <a:t>IBM Bob IDE was used as the core development partner during the build.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Practical, transparent components chosen for a fast hackathon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8686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86868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4754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17320"/>
            <a:ext cx="5166360" cy="8686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64008" cy="868680"/>
          </a:xfrm>
          <a:prstGeom prst="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8191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39112"/>
            <a:ext cx="4754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Streamlit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560320"/>
            <a:ext cx="5166360" cy="8686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2560320"/>
            <a:ext cx="64008" cy="868680"/>
          </a:xfrm>
          <a:prstGeom prst="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72491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82112"/>
            <a:ext cx="4754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Pandas • NumPy • CSV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560320"/>
            <a:ext cx="5166360" cy="8686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560320"/>
            <a:ext cx="64008" cy="868680"/>
          </a:xfrm>
          <a:prstGeom prst="rect">
            <a:avLst/>
          </a:prstGeom>
          <a:solidFill>
            <a:srgbClr val="F7C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72491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Visualisation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82112"/>
            <a:ext cx="4754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Plotly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03320"/>
            <a:ext cx="5166360" cy="8686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3703320"/>
            <a:ext cx="64008" cy="86868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867911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Optimisation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325112"/>
            <a:ext cx="4754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Custom scoring • NetworkX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703320"/>
            <a:ext cx="5166360" cy="8686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703320"/>
            <a:ext cx="64008" cy="868680"/>
          </a:xfrm>
          <a:prstGeom prst="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867911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AI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325112"/>
            <a:ext cx="4754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IBM watsonx.ai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4846320"/>
            <a:ext cx="5166360" cy="8686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5800" y="4846320"/>
            <a:ext cx="64008" cy="868680"/>
          </a:xfrm>
          <a:prstGeom prst="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01091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Development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468112"/>
            <a:ext cx="4754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IBM Bob IDE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4846320"/>
            <a:ext cx="5166360" cy="86868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60" y="4846320"/>
            <a:ext cx="64008" cy="868680"/>
          </a:xfrm>
          <a:prstGeom prst="rect">
            <a:avLst/>
          </a:prstGeom>
          <a:solidFill>
            <a:srgbClr val="F7C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01091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Testing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468112"/>
            <a:ext cx="4754880" cy="1188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Pytest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08076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AAB8CD"/>
                </a:solidFill>
                <a:latin typeface="Aptos"/>
              </a:rPr>
              <a:t>No database or external logistics feed is required for the current proof of concept.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Prototype snapshot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Interactive Streamlit dashboard for operational exploration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12</a:t>
            </a:r>
          </a:p>
        </p:txBody>
      </p:sp>
      <p:pic>
        <p:nvPicPr>
          <p:cNvPr id="6" name="Picture 5" descr="b51fbe87-aa2e-4bc1-9163-2fcd48e16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7498079" cy="398335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321040" y="1508760"/>
            <a:ext cx="3154680" cy="114300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321040" y="1508760"/>
            <a:ext cx="64008" cy="114300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673351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Command Dashboard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2130552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Shipment risk, disruption context and intervention priorities.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880360"/>
            <a:ext cx="3154680" cy="114300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2880360"/>
            <a:ext cx="64008" cy="1143000"/>
          </a:xfrm>
          <a:prstGeom prst="rect">
            <a:avLst/>
          </a:prstGeom>
          <a:solidFill>
            <a:srgbClr val="FF7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304495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Route 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502152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Compare route alternatives using disruption-aware scoring.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4251960"/>
            <a:ext cx="3154680" cy="114300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4251960"/>
            <a:ext cx="64008" cy="1143000"/>
          </a:xfrm>
          <a:prstGeom prst="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4416552"/>
            <a:ext cx="27432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Fleet + Cold 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873752"/>
            <a:ext cx="2743200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Find idle assets and inspect temperature excursions.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577840"/>
            <a:ext cx="3154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AB8CD"/>
                </a:solidFill>
                <a:latin typeface="Aptos"/>
              </a:rPr>
              <a:t>The same application also exposes the AI Copilot tab for natural-language analysis.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4F7FC"/>
                </a:solidFill>
                <a:latin typeface="Aptos"/>
              </a:rPr>
              <a:t>Limitations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24128"/>
            <a:ext cx="1051560" cy="45720"/>
          </a:xfrm>
          <a:prstGeom prst="rect">
            <a:avLst/>
          </a:prstGeom>
          <a:solidFill>
            <a:srgbClr val="43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33856"/>
            <a:ext cx="106070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AAB8CD"/>
                </a:solidFill>
                <a:latin typeface="Aptos"/>
              </a:rPr>
              <a:t>What would be required to move from prototype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18520" y="429768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AAB8CD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166360" cy="150876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64008" cy="1508760"/>
          </a:xfrm>
          <a:prstGeom prst="rect">
            <a:avLst/>
          </a:prstGeom>
          <a:solidFill>
            <a:srgbClr val="FF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8191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Current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39112"/>
            <a:ext cx="47548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• Synthetic CSV datasets
• Heuristic route and fleet scoring
• No live GPS, carrier, weather or port feeds
• Cold-chain thresholds require domain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1417320"/>
            <a:ext cx="5166360" cy="1508760"/>
          </a:xfrm>
          <a:prstGeom prst="roundRect">
            <a:avLst/>
          </a:prstGeom>
          <a:solidFill>
            <a:srgbClr val="121C2F"/>
          </a:solidFill>
          <a:ln>
            <a:solidFill>
              <a:srgbClr val="283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0760" y="1417320"/>
            <a:ext cx="64008" cy="1508760"/>
          </a:xfrm>
          <a:prstGeom prst="rect">
            <a:avLst/>
          </a:prstGeom>
          <a:solidFill>
            <a:srgbClr val="51DA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81912"/>
            <a:ext cx="47548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4F7FC"/>
                </a:solidFill>
                <a:latin typeface="Aptos"/>
              </a:rPr>
              <a:t>Production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039112"/>
            <a:ext cx="475488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AB8CD"/>
                </a:solidFill>
                <a:latin typeface="Aptos"/>
              </a:rPr>
              <a:t>• Live logistics and IoT integrations
• Commercial-grade routing constraints
• Capacity, driver-hours and ETA modelling
• Historical data for predictive risk
• Alerts, audit trails and role-based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2900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4F7FC"/>
                </a:solidFill>
                <a:latin typeface="Aptos"/>
              </a:rPr>
              <a:t>Design principle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977639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43D3FF"/>
                </a:solidFill>
                <a:latin typeface="Aptos"/>
              </a:rPr>
              <a:t>Keep recommendations explainable, reviewable and grounded in operational 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9601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AB8CD"/>
                </a:solidFill>
                <a:latin typeface="Aptos"/>
              </a:rPr>
              <a:t>RouteGuard AI is a proof-of-concept decision-support system; real-world dispatch requires human 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6400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AB8CD"/>
                </a:solidFill>
                <a:latin typeface="Aptos"/>
              </a:rPr>
              <a:t>RouteGuard AI  •  QuadraMind  •  IBM Bobathon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F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3D3FF"/>
                </a:solidFill>
                <a:latin typeface="Aptos"/>
              </a:rPr>
              <a:t>QuadraMind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400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4F7FC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F7E49"/>
                </a:solidFill>
                <a:latin typeface="Aptos"/>
              </a:rPr>
              <a:t>RouteGuard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88036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AB8CD"/>
                </a:solidFill>
                <a:latin typeface="Aptos"/>
              </a:rPr>
              <a:t>Supply Chain Disruption &amp; Fleet Utilisation Optimizer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77639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43D3FF"/>
                </a:solidFill>
                <a:latin typeface="Aptos"/>
              </a:rPr>
              <a:t>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38912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t>• Patel Yug Bhaveshkumar — Team Lead</a:t>
            </a:r>
          </a:p>
          <a:p>
            <a:pPr>
              <a:spcAft>
                <a:spcPts val="70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t>• Nishil Niraj Patwa</a:t>
            </a:r>
          </a:p>
          <a:p>
            <a:pPr>
              <a:spcAft>
                <a:spcPts val="70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t>• Rishit Shailendrabhai Pitroda</a:t>
            </a:r>
          </a:p>
          <a:p>
            <a:pPr>
              <a:spcAft>
                <a:spcPts val="700"/>
              </a:spcAft>
              <a:defRPr sz="1500">
                <a:solidFill>
                  <a:srgbClr val="F4F7FC"/>
                </a:solidFill>
                <a:latin typeface="Aptos"/>
              </a:defRPr>
            </a:pPr>
            <a:r>
              <a:t>• Krishn Shaileshbhai Padhariya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4297680"/>
            <a:ext cx="3383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F4F7FC"/>
                </a:solidFill>
                <a:latin typeface="Aptos"/>
              </a:rPr>
              <a:t>AI Track  •  IBM watsonx.ai  •  IBM Bob 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516636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43D3FF"/>
                </a:solidFill>
                <a:latin typeface="Aptos"/>
              </a:rPr>
              <a:t>Decision support for resilient logistics.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59893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AB8CD"/>
                </a:solidFill>
                <a:latin typeface="Aptos"/>
              </a:rPr>
              <a:t>QuadraMind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